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handoutMasterIdLst>
    <p:handoutMasterId r:id="rId36"/>
  </p:handoutMasterIdLst>
  <p:sldIdLst>
    <p:sldId id="384" r:id="rId3"/>
    <p:sldId id="374" r:id="rId4"/>
    <p:sldId id="397" r:id="rId5"/>
    <p:sldId id="385" r:id="rId6"/>
    <p:sldId id="398" r:id="rId7"/>
    <p:sldId id="388" r:id="rId8"/>
    <p:sldId id="389" r:id="rId9"/>
    <p:sldId id="403" r:id="rId11"/>
    <p:sldId id="294" r:id="rId12"/>
    <p:sldId id="295" r:id="rId13"/>
    <p:sldId id="296" r:id="rId14"/>
    <p:sldId id="297" r:id="rId15"/>
    <p:sldId id="404" r:id="rId16"/>
    <p:sldId id="399" r:id="rId17"/>
    <p:sldId id="387" r:id="rId18"/>
    <p:sldId id="390" r:id="rId19"/>
    <p:sldId id="392" r:id="rId20"/>
    <p:sldId id="409" r:id="rId21"/>
    <p:sldId id="411" r:id="rId22"/>
    <p:sldId id="405" r:id="rId23"/>
    <p:sldId id="413" r:id="rId24"/>
    <p:sldId id="412" r:id="rId25"/>
    <p:sldId id="407" r:id="rId26"/>
    <p:sldId id="408" r:id="rId27"/>
    <p:sldId id="406" r:id="rId28"/>
    <p:sldId id="410" r:id="rId29"/>
    <p:sldId id="394" r:id="rId30"/>
    <p:sldId id="395" r:id="rId31"/>
    <p:sldId id="401" r:id="rId32"/>
    <p:sldId id="400" r:id="rId33"/>
    <p:sldId id="402" r:id="rId34"/>
    <p:sldId id="396" r:id="rId35"/>
  </p:sldIdLst>
  <p:sldSz cx="9144000" cy="6858000" type="screen4x3"/>
  <p:notesSz cx="9942195" cy="6760845"/>
  <p:embeddedFontLst>
    <p:embeddedFont>
      <p:font typeface="Tahoma" panose="020B0604030504040204" pitchFamily="34" charset="0"/>
      <p:regular r:id="rId40"/>
      <p:bold r:id="rId41"/>
    </p:embeddedFont>
    <p:embeddedFont>
      <p:font typeface="Gulim" panose="020B0600000101010101" pitchFamily="34" charset="-127"/>
      <p:regular r:id="rId42"/>
    </p:embeddedFont>
    <p:embeddedFont>
      <p:font typeface="微软雅黑" panose="020B0503020204020204" pitchFamily="34" charset="-122"/>
      <p:regular r:id="rId43"/>
    </p:embeddedFont>
    <p:embeddedFont>
      <p:font typeface="Verdana" panose="020B0604030504040204" pitchFamily="34" charset="0"/>
      <p:regular r:id="rId44"/>
      <p:bold r:id="rId45"/>
      <p:italic r:id="rId46"/>
      <p:boldItalic r:id="rId47"/>
    </p:embeddedFont>
    <p:embeddedFont>
      <p:font typeface="Tempus Sans ITC" panose="04020404030D07020202" pitchFamily="82" charset="0"/>
      <p:regular r:id="rId48"/>
    </p:embeddedFont>
  </p:embeddedFontLst>
  <p:defaultTextStyle>
    <a:defPPr>
      <a:defRPr lang="ko-K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00CC"/>
    <a:srgbClr val="66CCFF"/>
    <a:srgbClr val="CCECFF"/>
    <a:srgbClr val="99CCFF"/>
    <a:srgbClr val="33CCFF"/>
    <a:srgbClr val="FFFF66"/>
    <a:srgbClr val="FED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0" autoAdjust="0"/>
    <p:restoredTop sz="91067" autoAdjust="0"/>
  </p:normalViewPr>
  <p:slideViewPr>
    <p:cSldViewPr showGuides="1">
      <p:cViewPr varScale="1">
        <p:scale>
          <a:sx n="79" d="100"/>
          <a:sy n="79" d="100"/>
        </p:scale>
        <p:origin x="1574" y="72"/>
      </p:cViewPr>
      <p:guideLst>
        <p:guide orient="horz" pos="2160"/>
        <p:guide pos="28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2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8" Type="http://schemas.openxmlformats.org/officeDocument/2006/relationships/font" Target="fonts/font9.fntdata"/><Relationship Id="rId47" Type="http://schemas.openxmlformats.org/officeDocument/2006/relationships/font" Target="fonts/font8.fntdata"/><Relationship Id="rId46" Type="http://schemas.openxmlformats.org/officeDocument/2006/relationships/font" Target="fonts/font7.fntdata"/><Relationship Id="rId45" Type="http://schemas.openxmlformats.org/officeDocument/2006/relationships/font" Target="fonts/font6.fntdata"/><Relationship Id="rId44" Type="http://schemas.openxmlformats.org/officeDocument/2006/relationships/font" Target="fonts/font5.fntdata"/><Relationship Id="rId43" Type="http://schemas.openxmlformats.org/officeDocument/2006/relationships/font" Target="fonts/font4.fntdata"/><Relationship Id="rId42" Type="http://schemas.openxmlformats.org/officeDocument/2006/relationships/font" Target="fonts/font3.fntdata"/><Relationship Id="rId41" Type="http://schemas.openxmlformats.org/officeDocument/2006/relationships/font" Target="fonts/font2.fntdata"/><Relationship Id="rId40" Type="http://schemas.openxmlformats.org/officeDocument/2006/relationships/font" Target="fonts/font1.fntdata"/><Relationship Id="rId4" Type="http://schemas.openxmlformats.org/officeDocument/2006/relationships/slide" Target="slides/slide2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handoutMaster" Target="handoutMasters/handoutMaster1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.wmf"/><Relationship Id="rId8" Type="http://schemas.openxmlformats.org/officeDocument/2006/relationships/image" Target="../media/image9.wmf"/><Relationship Id="rId7" Type="http://schemas.openxmlformats.org/officeDocument/2006/relationships/image" Target="../media/image8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3" Type="http://schemas.openxmlformats.org/officeDocument/2006/relationships/image" Target="../media/image14.wmf"/><Relationship Id="rId12" Type="http://schemas.openxmlformats.org/officeDocument/2006/relationships/image" Target="../media/image13.wmf"/><Relationship Id="rId11" Type="http://schemas.openxmlformats.org/officeDocument/2006/relationships/image" Target="../media/image12.wmf"/><Relationship Id="rId10" Type="http://schemas.openxmlformats.org/officeDocument/2006/relationships/image" Target="../media/image11.w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24.wmf"/><Relationship Id="rId8" Type="http://schemas.openxmlformats.org/officeDocument/2006/relationships/image" Target="../media/image23.wmf"/><Relationship Id="rId7" Type="http://schemas.openxmlformats.org/officeDocument/2006/relationships/image" Target="../media/image22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8.wmf"/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1" Type="http://schemas.openxmlformats.org/officeDocument/2006/relationships/image" Target="../media/image26.wmf"/><Relationship Id="rId10" Type="http://schemas.openxmlformats.org/officeDocument/2006/relationships/image" Target="../media/image25.wmf"/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7" Type="http://schemas.openxmlformats.org/officeDocument/2006/relationships/image" Target="../media/image35.wmf"/><Relationship Id="rId6" Type="http://schemas.openxmlformats.org/officeDocument/2006/relationships/image" Target="../media/image34.wmf"/><Relationship Id="rId5" Type="http://schemas.openxmlformats.org/officeDocument/2006/relationships/image" Target="../media/image33.wmf"/><Relationship Id="rId4" Type="http://schemas.openxmlformats.org/officeDocument/2006/relationships/image" Target="../media/image32.wmf"/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8422" cy="33805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1790" y="0"/>
            <a:ext cx="4308422" cy="33805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E940A41-4E7A-4C8E-BF78-625341BFF9D7}" type="datetimeFigureOut">
              <a:rPr lang="zh-CN" altLang="en-US"/>
            </a:fld>
            <a:endParaRPr lang="en-US" altLang="zh-CN"/>
          </a:p>
        </p:txBody>
      </p:sp>
      <p:sp>
        <p:nvSpPr>
          <p:cNvPr id="286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421932"/>
            <a:ext cx="4308422" cy="33805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6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1790" y="6421932"/>
            <a:ext cx="4308422" cy="33805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2DB6698-8BC7-4DE0-B3E8-E30937D1F8D9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8422" cy="33805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latinLnBrk="1">
              <a:defRPr kumimoji="1" sz="1200">
                <a:latin typeface="Gulim" panose="020B0600000101010101" pitchFamily="34" charset="-127"/>
                <a:ea typeface="Gulim" panose="020B0600000101010101" pitchFamily="34" charset="-127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89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1790" y="0"/>
            <a:ext cx="4308422" cy="33805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latinLnBrk="1">
              <a:defRPr kumimoji="1" sz="1200">
                <a:latin typeface="Gulim" panose="020B0600000101010101" pitchFamily="34" charset="-127"/>
                <a:ea typeface="Gulim" panose="020B0600000101010101" pitchFamily="34" charset="-127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9775" y="506413"/>
            <a:ext cx="3382963" cy="25368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389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252" y="3211553"/>
            <a:ext cx="7954010" cy="304252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389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421932"/>
            <a:ext cx="4308422" cy="33805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latinLnBrk="1">
              <a:defRPr kumimoji="1" sz="1200">
                <a:latin typeface="Gulim" panose="020B0600000101010101" pitchFamily="34" charset="-127"/>
                <a:ea typeface="Gulim" panose="020B0600000101010101" pitchFamily="34" charset="-127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1790" y="6421932"/>
            <a:ext cx="4308422" cy="33805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latinLnBrk="1">
              <a:defRPr kumimoji="1" sz="1200">
                <a:latin typeface="Gulim" panose="020B0600000101010101" pitchFamily="34" charset="-127"/>
                <a:ea typeface="Gulim" panose="020B0600000101010101" pitchFamily="34" charset="-127"/>
              </a:defRPr>
            </a:lvl1pPr>
          </a:lstStyle>
          <a:p>
            <a:pPr>
              <a:defRPr/>
            </a:pPr>
            <a:fld id="{5AB2A1A2-3D7B-4C0A-B829-B820E38B9639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anose="020B0600000101010101" pitchFamily="34" charset="-127"/>
        <a:ea typeface="宋体" panose="02010600030101010101" pitchFamily="2" charset="-122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anose="020B0600000101010101" pitchFamily="34" charset="-127"/>
        <a:ea typeface="宋体" panose="02010600030101010101" pitchFamily="2" charset="-122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anose="020B0600000101010101" pitchFamily="34" charset="-127"/>
        <a:ea typeface="宋体" panose="02010600030101010101" pitchFamily="2" charset="-122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anose="020B0600000101010101" pitchFamily="34" charset="-127"/>
        <a:ea typeface="宋体" panose="02010600030101010101" pitchFamily="2" charset="-122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Gulim" panose="020B0600000101010101" pitchFamily="34" charset="-127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B2A1A2-3D7B-4C0A-B829-B820E38B9639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http://www.ptpress.com.cn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B2A1A2-3D7B-4C0A-B829-B820E38B9639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B2A1A2-3D7B-4C0A-B829-B820E38B9639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http://www.ptpress.com.cn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B2A1A2-3D7B-4C0A-B829-B820E38B9639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B2A1A2-3D7B-4C0A-B829-B820E38B9639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http://www.ptpress.com.cn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B2A1A2-3D7B-4C0A-B829-B820E38B9639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B2A1A2-3D7B-4C0A-B829-B820E38B9639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B2A1A2-3D7B-4C0A-B829-B820E38B9639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B2A1A2-3D7B-4C0A-B829-B820E38B9639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B2A1A2-3D7B-4C0A-B829-B820E38B9639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AB2A1A2-3D7B-4C0A-B829-B820E38B9639}" type="slidenum">
              <a:rPr lang="zh-CN" altLang="en-US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AA3908-1D36-436C-AFFE-9BE230706B30}" type="datetimeFigureOut">
              <a:rPr lang="zh-CN" altLang="en-US"/>
            </a:fld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8E7E5A-DDAF-4D5E-A1E6-873EC07A38D5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72BA6-720B-4529-9775-1E586093D6E8}" type="datetimeFigureOut">
              <a:rPr lang="zh-CN" altLang="en-US"/>
            </a:fld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D834A-E71F-4B7C-A10F-055D2E15C5B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AFDAD4-8E14-495F-95EE-3400ABF60A66}" type="datetimeFigureOut">
              <a:rPr lang="zh-CN" altLang="en-US"/>
            </a:fld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DE5195-106D-4D73-9EFF-237E2088FE3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28FBA4-B307-4E5A-B94C-F342E080DD0A}" type="datetimeFigureOut">
              <a:rPr lang="zh-CN" altLang="en-US"/>
            </a:fld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DAE28-0914-4E93-86C9-6CF9A4407CB2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B8AB1-AB60-475F-BDD0-8E2F8E282E44}" type="datetimeFigureOut">
              <a:rPr lang="zh-CN" altLang="en-US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EDD12E-E787-4615-B4CF-657EFFAD533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02AD97-C356-4E04-8B25-00E3ECC60B70}" type="datetimeFigureOut">
              <a:rPr lang="zh-CN" altLang="en-US"/>
            </a:fld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D318-FFA1-43EB-81F5-779FEED939F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BEED88-AB6C-4EE6-AE5A-828639659FFF}" type="datetimeFigureOut">
              <a:rPr lang="zh-CN" altLang="en-US"/>
            </a:fld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C4595-E72E-4F18-B83D-A955771036B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7C5937-C53C-4F74-A646-F42B84554021}" type="datetimeFigureOut">
              <a:rPr lang="zh-CN" altLang="en-US"/>
            </a:fld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1E3420-A4A6-401B-B722-39631F976324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1F3D33-58EA-44DE-8DB7-D5AC1C4E1FCE}" type="datetimeFigureOut">
              <a:rPr lang="zh-CN" altLang="en-US"/>
            </a:fld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27D5EF-53A6-407A-A459-ABC30572195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5E49B2-6506-4A23-82EE-B2E2F142CAB4}" type="datetimeFigureOut">
              <a:rPr lang="zh-CN" altLang="en-US"/>
            </a:fld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78DB74-21B2-4AD5-BF71-572766C4243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150938" y="214313"/>
            <a:ext cx="7804150" cy="591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7AEC74-243A-4E59-BA1C-BC38C27A30CC}" type="datetimeFigureOut">
              <a:rPr lang="zh-CN" altLang="en-US"/>
            </a:fld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053CC8-1D8D-4C26-AA5C-E7B375488556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zh-CN" altLang="en-US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411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400"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417EDBC-9A1B-4B61-B44A-E35862FFF71A}" type="datetimeFigureOut">
              <a:rPr lang="zh-CN" altLang="en-US"/>
            </a:fld>
            <a:endParaRPr lang="en-US" altLang="zh-CN"/>
          </a:p>
        </p:txBody>
      </p:sp>
      <p:sp>
        <p:nvSpPr>
          <p:cNvPr id="102412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400"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13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>
                <a:latin typeface="+mn-lt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B7E8507-D1A8-409F-8C87-F501A27DA650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hyperlink" Target="mailto:xiongf@bjtu.edu.cn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5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wmf"/><Relationship Id="rId3" Type="http://schemas.openxmlformats.org/officeDocument/2006/relationships/oleObject" Target="../embeddings/oleObject2.bin"/><Relationship Id="rId29" Type="http://schemas.openxmlformats.org/officeDocument/2006/relationships/notesSlide" Target="../notesSlides/notesSlide5.xml"/><Relationship Id="rId28" Type="http://schemas.openxmlformats.org/officeDocument/2006/relationships/vmlDrawing" Target="../drawings/vmlDrawing1.vml"/><Relationship Id="rId27" Type="http://schemas.openxmlformats.org/officeDocument/2006/relationships/slideLayout" Target="../slideLayouts/slideLayout6.xml"/><Relationship Id="rId26" Type="http://schemas.openxmlformats.org/officeDocument/2006/relationships/image" Target="../media/image14.wmf"/><Relationship Id="rId25" Type="http://schemas.openxmlformats.org/officeDocument/2006/relationships/oleObject" Target="../embeddings/oleObject13.bin"/><Relationship Id="rId24" Type="http://schemas.openxmlformats.org/officeDocument/2006/relationships/image" Target="../media/image13.wmf"/><Relationship Id="rId23" Type="http://schemas.openxmlformats.org/officeDocument/2006/relationships/oleObject" Target="../embeddings/oleObject12.bin"/><Relationship Id="rId22" Type="http://schemas.openxmlformats.org/officeDocument/2006/relationships/image" Target="../media/image12.wmf"/><Relationship Id="rId21" Type="http://schemas.openxmlformats.org/officeDocument/2006/relationships/oleObject" Target="../embeddings/oleObject11.bin"/><Relationship Id="rId20" Type="http://schemas.openxmlformats.org/officeDocument/2006/relationships/image" Target="../media/image11.wmf"/><Relationship Id="rId2" Type="http://schemas.openxmlformats.org/officeDocument/2006/relationships/image" Target="../media/image2.emf"/><Relationship Id="rId19" Type="http://schemas.openxmlformats.org/officeDocument/2006/relationships/oleObject" Target="../embeddings/oleObject10.bin"/><Relationship Id="rId18" Type="http://schemas.openxmlformats.org/officeDocument/2006/relationships/image" Target="../media/image10.wmf"/><Relationship Id="rId17" Type="http://schemas.openxmlformats.org/officeDocument/2006/relationships/oleObject" Target="../embeddings/oleObject9.bin"/><Relationship Id="rId16" Type="http://schemas.openxmlformats.org/officeDocument/2006/relationships/image" Target="../media/image9.wmf"/><Relationship Id="rId15" Type="http://schemas.openxmlformats.org/officeDocument/2006/relationships/oleObject" Target="../embeddings/oleObject8.bin"/><Relationship Id="rId14" Type="http://schemas.openxmlformats.org/officeDocument/2006/relationships/image" Target="../media/image8.wmf"/><Relationship Id="rId13" Type="http://schemas.openxmlformats.org/officeDocument/2006/relationships/oleObject" Target="../embeddings/oleObject7.bin"/><Relationship Id="rId12" Type="http://schemas.openxmlformats.org/officeDocument/2006/relationships/image" Target="../media/image7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6.wmf"/><Relationship Id="rId1" Type="http://schemas.openxmlformats.org/officeDocument/2006/relationships/oleObject" Target="../embeddings/oleObject1.bin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png"/><Relationship Id="rId8" Type="http://schemas.openxmlformats.org/officeDocument/2006/relationships/image" Target="../media/image18.wmf"/><Relationship Id="rId7" Type="http://schemas.openxmlformats.org/officeDocument/2006/relationships/oleObject" Target="../embeddings/oleObject17.bin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5.bin"/><Relationship Id="rId27" Type="http://schemas.openxmlformats.org/officeDocument/2006/relationships/notesSlide" Target="../notesSlides/notesSlide7.xml"/><Relationship Id="rId26" Type="http://schemas.openxmlformats.org/officeDocument/2006/relationships/vmlDrawing" Target="../drawings/vmlDrawing2.vml"/><Relationship Id="rId25" Type="http://schemas.openxmlformats.org/officeDocument/2006/relationships/slideLayout" Target="../slideLayouts/slideLayout6.xml"/><Relationship Id="rId24" Type="http://schemas.openxmlformats.org/officeDocument/2006/relationships/image" Target="../media/image27.png"/><Relationship Id="rId23" Type="http://schemas.openxmlformats.org/officeDocument/2006/relationships/image" Target="../media/image26.wmf"/><Relationship Id="rId22" Type="http://schemas.openxmlformats.org/officeDocument/2006/relationships/oleObject" Target="../embeddings/oleObject24.bin"/><Relationship Id="rId21" Type="http://schemas.openxmlformats.org/officeDocument/2006/relationships/image" Target="../media/image25.wmf"/><Relationship Id="rId20" Type="http://schemas.openxmlformats.org/officeDocument/2006/relationships/oleObject" Target="../embeddings/oleObject23.bin"/><Relationship Id="rId2" Type="http://schemas.openxmlformats.org/officeDocument/2006/relationships/image" Target="../media/image15.wmf"/><Relationship Id="rId19" Type="http://schemas.openxmlformats.org/officeDocument/2006/relationships/image" Target="../media/image24.wmf"/><Relationship Id="rId18" Type="http://schemas.openxmlformats.org/officeDocument/2006/relationships/oleObject" Target="../embeddings/oleObject22.bin"/><Relationship Id="rId17" Type="http://schemas.openxmlformats.org/officeDocument/2006/relationships/image" Target="../media/image23.wmf"/><Relationship Id="rId16" Type="http://schemas.openxmlformats.org/officeDocument/2006/relationships/oleObject" Target="../embeddings/oleObject21.bin"/><Relationship Id="rId15" Type="http://schemas.openxmlformats.org/officeDocument/2006/relationships/image" Target="../media/image22.wmf"/><Relationship Id="rId14" Type="http://schemas.openxmlformats.org/officeDocument/2006/relationships/oleObject" Target="../embeddings/oleObject20.bin"/><Relationship Id="rId13" Type="http://schemas.openxmlformats.org/officeDocument/2006/relationships/image" Target="../media/image21.wmf"/><Relationship Id="rId12" Type="http://schemas.openxmlformats.org/officeDocument/2006/relationships/oleObject" Target="../embeddings/oleObject19.bin"/><Relationship Id="rId11" Type="http://schemas.openxmlformats.org/officeDocument/2006/relationships/image" Target="../media/image20.wmf"/><Relationship Id="rId10" Type="http://schemas.openxmlformats.org/officeDocument/2006/relationships/oleObject" Target="../embeddings/oleObject18.bin"/><Relationship Id="rId1" Type="http://schemas.openxmlformats.org/officeDocument/2006/relationships/oleObject" Target="../embeddings/oleObject14.bin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wmf"/><Relationship Id="rId8" Type="http://schemas.openxmlformats.org/officeDocument/2006/relationships/oleObject" Target="../embeddings/oleObject28.bin"/><Relationship Id="rId7" Type="http://schemas.openxmlformats.org/officeDocument/2006/relationships/image" Target="../media/image31.wmf"/><Relationship Id="rId6" Type="http://schemas.openxmlformats.org/officeDocument/2006/relationships/oleObject" Target="../embeddings/oleObject27.bin"/><Relationship Id="rId5" Type="http://schemas.openxmlformats.org/officeDocument/2006/relationships/image" Target="../media/image30.wmf"/><Relationship Id="rId4" Type="http://schemas.openxmlformats.org/officeDocument/2006/relationships/oleObject" Target="../embeddings/oleObject26.bin"/><Relationship Id="rId3" Type="http://schemas.openxmlformats.org/officeDocument/2006/relationships/image" Target="../media/image29.wmf"/><Relationship Id="rId2" Type="http://schemas.openxmlformats.org/officeDocument/2006/relationships/oleObject" Target="../embeddings/oleObject25.bin"/><Relationship Id="rId18" Type="http://schemas.openxmlformats.org/officeDocument/2006/relationships/notesSlide" Target="../notesSlides/notesSlide8.xml"/><Relationship Id="rId17" Type="http://schemas.openxmlformats.org/officeDocument/2006/relationships/vmlDrawing" Target="../drawings/vmlDrawing3.vml"/><Relationship Id="rId16" Type="http://schemas.openxmlformats.org/officeDocument/2006/relationships/slideLayout" Target="../slideLayouts/slideLayout6.xml"/><Relationship Id="rId15" Type="http://schemas.openxmlformats.org/officeDocument/2006/relationships/image" Target="../media/image35.wmf"/><Relationship Id="rId14" Type="http://schemas.openxmlformats.org/officeDocument/2006/relationships/oleObject" Target="../embeddings/oleObject31.bin"/><Relationship Id="rId13" Type="http://schemas.openxmlformats.org/officeDocument/2006/relationships/image" Target="../media/image34.wmf"/><Relationship Id="rId12" Type="http://schemas.openxmlformats.org/officeDocument/2006/relationships/oleObject" Target="../embeddings/oleObject30.bin"/><Relationship Id="rId11" Type="http://schemas.openxmlformats.org/officeDocument/2006/relationships/image" Target="../media/image33.wmf"/><Relationship Id="rId10" Type="http://schemas.openxmlformats.org/officeDocument/2006/relationships/oleObject" Target="../embeddings/oleObject29.bin"/><Relationship Id="rId1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hyperlink" Target="mailto:bshen@bjtu.edu.cn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2"/>
          <p:cNvSpPr/>
          <p:nvPr/>
        </p:nvSpPr>
        <p:spPr bwMode="auto">
          <a:xfrm>
            <a:off x="1115616" y="3068960"/>
            <a:ext cx="6715125" cy="12144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anchor="b"/>
          <a:lstStyle/>
          <a:p>
            <a:pPr algn="ctr">
              <a:buFont typeface="Wingdings" panose="05000000000000000000" pitchFamily="2" charset="2"/>
              <a:buNone/>
              <a:defRPr/>
            </a:pPr>
            <a:endParaRPr lang="en-US" altLang="zh-CN" sz="36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Font typeface="Wingdings" panose="05000000000000000000" pitchFamily="2" charset="2"/>
              <a:buNone/>
              <a:defRPr/>
            </a:pPr>
            <a:r>
              <a:rPr lang="zh-CN" altLang="en-US" sz="66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信息安全</a:t>
            </a:r>
            <a:endParaRPr lang="en-US" altLang="zh-CN" sz="5400" b="1" dirty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buFont typeface="Wingdings" panose="05000000000000000000" pitchFamily="2" charset="2"/>
              <a:buNone/>
              <a:defRPr/>
            </a:pPr>
            <a:r>
              <a:rPr lang="zh-CN" altLang="en-US" sz="54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课  程  设  计</a:t>
            </a:r>
            <a:endParaRPr lang="zh-CN" altLang="en-US" sz="7200" dirty="0">
              <a:effectLst>
                <a:outerShdw blurRad="38100" dist="38100" dir="2700000" algn="tl">
                  <a:srgbClr val="C0C0C0"/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827584" y="1844824"/>
            <a:ext cx="7786742" cy="4357718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课程：信息安全课程设计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时间：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～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周，周一第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节、周三第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节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地点：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YF613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教师：熊菲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http://faculty.bjtu.edu.cn/8586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xiongf@bjtu.edu.cn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, 9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教南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603     13811992620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43063" y="64293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关于课程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755576" y="3068960"/>
            <a:ext cx="7776864" cy="2952328"/>
          </a:xfrm>
          <a:noFill/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、基于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AES/DES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对称密码体系的加密解密工具实现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、基于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RSA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非对称密码体系的加密解密工具实现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、通用爬虫的设计与实现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、定向爬虫的设计与实现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43063" y="64293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536" y="2348880"/>
            <a:ext cx="309634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1-4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周任务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683568" y="3140968"/>
            <a:ext cx="8280920" cy="2880320"/>
          </a:xfrm>
          <a:noFill/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、端到端加密的即时通讯软件设计与实现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、局域网侦听软件设计与实现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DOS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攻击检测及防御方法研究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、属性级用户情感分析系统的设计与实现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、跨社交网络用户对齐系统的设计与实现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、信息传播预测系统的设计与实现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0"/>
              </a:spcBef>
              <a:spcAft>
                <a:spcPts val="600"/>
              </a:spcAft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、网络安全知识图谱系统的设计与实现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43063" y="64293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/>
              <a:t>任务</a:t>
            </a:r>
            <a:endParaRPr lang="en-US" altLang="zh-CN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395536" y="2348880"/>
            <a:ext cx="3096344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5-8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周任务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19672" y="62068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699792" y="2276872"/>
            <a:ext cx="396044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1-4</a:t>
            </a:r>
            <a:r>
              <a:rPr lang="zh-CN" altLang="en-US"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周任务</a:t>
            </a:r>
            <a:endParaRPr lang="zh-CN" altLang="en-US" sz="4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907704" y="3501008"/>
            <a:ext cx="5760640" cy="2601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密码学基础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信息安全传输的基本保障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网络爬虫技术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网络内容安全的基础支撑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395536" y="2071678"/>
            <a:ext cx="8391306" cy="4357718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AES/DES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对称密码体系的加密解密工具实现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深入了解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对称密码体系的工作方式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，分析各种对称加密方法的特点、安全强度及弱点；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详细说明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AES/DES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算法的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原理与结构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设计并实现一个可以对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文本文件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二进制文件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进行加密和解密的工具；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AES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加密工具支持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128bit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256bit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两种长度的密钥。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43063" y="64293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755576" y="2060848"/>
            <a:ext cx="7929618" cy="4357718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RSA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非对称密码体系的加密解密工具实现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深入了解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非对称密码体系的工作方式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，分析各种非对称加密方法的特点、安全强度及弱点；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详细说明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RSA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算法的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原理与结构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设计并实现一个可以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产生非对称密钥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并对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字符串、文本文件、二进制文件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进行加密和解密的工具；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工具支持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1024bit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的密钥长度。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43063" y="64293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755576" y="2060848"/>
            <a:ext cx="8208912" cy="4357718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通用爬虫的设计与实现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学习网络信息采集的基本理论，分析通用爬虫、定向爬虫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聚焦爬虫的区别；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详细了解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的搜索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更新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及维护；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设计一个能够实现新闻及评论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论坛等通用爬虫；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编程实现所设计的工具，并能够进行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解析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URL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过滤、页面内容预处理、页面存储等功能。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43063" y="64293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dirty="0">
                <a:latin typeface="Verdana" panose="020B0604030504040204" pitchFamily="34" charset="0"/>
              </a:rPr>
              <a:t>网络爬虫</a:t>
            </a:r>
            <a:endParaRPr lang="zh-CN" altLang="en-US" sz="4000" dirty="0">
              <a:latin typeface="Verdana" panose="020B0604030504040204" pitchFamily="34" charset="0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网络爬虫各个部分的主要功能介绍如下：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．页面采集模块：该模块是爬虫和因特网的接口，主要作用是通过各种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web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协议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一般以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HTTP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FTP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为主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来完成对网页数据的采集，保存后将采集到的页面交由后续模块作进一步处理。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其过程类似于用户使用浏览器打开网页，保存的网页供其它后续模块处理，例如，页面分析、链接抽取。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dirty="0">
                <a:latin typeface="Verdana" panose="020B0604030504040204" pitchFamily="34" charset="0"/>
              </a:rPr>
              <a:t>网络爬虫</a:t>
            </a:r>
            <a:endParaRPr lang="zh-CN" altLang="en-US" sz="4000" dirty="0">
              <a:latin typeface="Verdana" panose="020B0604030504040204" pitchFamily="34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．页面分析模块：该模块的主要功能是将页面采集模块采集下来的页面进行分析，提取其中满足用户要求的超链接，加入到超链接队列中。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页面链接中给出的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URL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一般是多种格式的，可能是完整的包括协议、站点和路径的，也可能是省略了部分内容的，或者是一个相对路径。所以为处理方便，一般进行规范化处理，先将其转化成统一的格式。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>
                <a:latin typeface="Verdana" panose="020B0604030504040204" pitchFamily="34" charset="0"/>
              </a:rPr>
              <a:t>工作流程  </a:t>
            </a:r>
            <a:endParaRPr lang="zh-CN" altLang="en-US" sz="4000">
              <a:latin typeface="Verdana" panose="020B0604030504040204" pitchFamily="34" charset="0"/>
            </a:endParaRP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>
          <a:xfrm>
            <a:off x="1182688" y="2017713"/>
            <a:ext cx="7532687" cy="4114800"/>
          </a:xfrm>
        </p:spPr>
        <p:txBody>
          <a:bodyPr/>
          <a:lstStyle/>
          <a:p>
            <a:pPr algn="just" eaLnBrk="1" hangingPunct="1"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、链接过滤模块：该模块主要是用于对重复链接和循环链接的过滤。例如，相对路径需要补全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URL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，然后加入到待采集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URL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队列中。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</a:pP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此时，一般会过滤掉队列中已经包含的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URL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，以及循环链接的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URL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4000" dirty="0">
                <a:latin typeface="Verdana" panose="020B0604030504040204" pitchFamily="34" charset="0"/>
              </a:rPr>
              <a:t>网络爬虫</a:t>
            </a:r>
            <a:endParaRPr lang="zh-CN" altLang="en-US" sz="4000" dirty="0">
              <a:latin typeface="Verdana" panose="020B0604030504040204" pitchFamily="34" charset="0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．页面库：用来存放已经采集下来的页面，以备后期处理。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．待采集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URL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队列：从采集网页中抽取并作相应处理后得到的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URL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，当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URL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为空时爬虫程序终止。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6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．初始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URL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：提供 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URL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种子，以启动爬虫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755576" y="1916832"/>
            <a:ext cx="8208912" cy="4357718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定向爬虫的设计与实现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学习微博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的使用方法，掌握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的调用接口限制以及模拟登录的原理；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学习数据表结构设计、数据插入删除及查找方法；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设计一个微博爬虫或动态网页爬虫，使用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接口，采集的数据存入数据库中，设置初始用户昵称，持续采集，在满足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接口限制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条件下，设计提高采集速度的方法。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43063" y="64293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43063" y="64293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777642" y="2348880"/>
            <a:ext cx="3528392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5-8</a:t>
            </a:r>
            <a:r>
              <a:rPr lang="zh-CN" altLang="en-US" sz="4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周任务</a:t>
            </a:r>
            <a:endParaRPr lang="zh-CN" altLang="en-US" sz="4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07704" y="3501008"/>
            <a:ext cx="5760640" cy="1955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访问控制技术、网络攻防技术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针对常见网络攻击的防御技术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网络内容安全监控的常用技术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857224" y="2071678"/>
            <a:ext cx="7929618" cy="4357718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加密的即时通讯软件设计与实现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选择或设计一种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消息加密算法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设计一种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密钥交换或分发机制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设计一个可以对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消息进行加密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解密的即时通信软件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对即时通信软件进行实现。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43063" y="64293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857224" y="2071678"/>
            <a:ext cx="7929618" cy="4357718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局域网侦听软件设计与实现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深入了解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局域网的工作方式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，研究局域网侦听技术，以及侦听探测技术；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设计能够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对局域网内的通信进行侦听的软件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能够解析侦听到的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局域网通信（链路层、网络层）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编程实现并测试所设计的工具。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43063" y="64293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857224" y="2071678"/>
            <a:ext cx="7929618" cy="4357718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DOS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攻击检测及防御方法研究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学习网络攻击的各种方式以及防御攻击的方法；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深入了解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DOS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攻击的基本原理、攻击方式的种类等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设计并实现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检测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DOS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攻击的工具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，并进行验证；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研究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防御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DOS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攻击的方法，并加以实现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43063" y="64293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39552" y="1700808"/>
            <a:ext cx="8424936" cy="4357718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属性级用户情感分析系统的设计与实现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了解自然语言处理概念，掌握情感倾向分类方法；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en-US" altLang="zh-CN" sz="24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bert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预训练模型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属性抽取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属性级情感分类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技术；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设计网络用户评论的情感分类程序，采集用户评论数据，人工标注训练样本，能够进行中文分词、词嵌入表示、属性级情感类别输出；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同时使用社交网络真实数据集测试模型的准确性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43063" y="64293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7360" y="1844675"/>
            <a:ext cx="7912100" cy="43567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899592" y="1916832"/>
            <a:ext cx="8064896" cy="4357718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跨社交网络用户对齐系统的设计与实现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了解网络对齐的原理，掌握网络结构分析、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节点表示学习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掌握有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锚节点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的跨网络用户对齐；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设计用户对齐的程序，使用公开数据集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Allmovie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Imdb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Facebook-Twitter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等测试性能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拓展内容：考虑用户属性。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43063" y="64293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899592" y="1916832"/>
            <a:ext cx="8064896" cy="435771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给定一幅图            ，</a:t>
            </a:r>
            <a:r>
              <a:rPr lang="zh-CN" altLang="en-US" sz="20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对于第</a:t>
            </a:r>
            <a:r>
              <a:rPr lang="en-US" altLang="zh-CN" sz="200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r>
              <a:rPr lang="zh-CN" altLang="en-US" sz="20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层的节点</a:t>
            </a:r>
            <a:r>
              <a:rPr lang="en-US" altLang="zh-CN" sz="200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en-US" altLang="zh-CN" sz="20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,</a:t>
            </a:r>
            <a:r>
              <a:rPr lang="zh-CN" altLang="en-US" sz="20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在第</a:t>
            </a:r>
            <a:r>
              <a:rPr lang="en-US" altLang="zh-CN" sz="200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r>
              <a:rPr lang="en-US" altLang="zh-CN" sz="20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+1</a:t>
            </a:r>
            <a:r>
              <a:rPr lang="zh-CN" altLang="en-US" sz="20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层的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更新如下             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其中，   表示偏置，   表示节点</a:t>
            </a:r>
            <a:r>
              <a:rPr lang="en-US" altLang="zh-CN" sz="200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的邻居节点，</a:t>
            </a:r>
            <a:r>
              <a:rPr lang="en-US" altLang="zh-CN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是可学习的参数矩阵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网络对齐。源网络     ，目标网络      ，若        ，       锚节点集合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目标函数为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预测函数为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3563888" y="330676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5" name="Rectangle 44"/>
          <p:cNvSpPr>
            <a:spLocks noChangeArrowheads="1"/>
          </p:cNvSpPr>
          <p:nvPr/>
        </p:nvSpPr>
        <p:spPr bwMode="auto">
          <a:xfrm>
            <a:off x="0" y="-1"/>
            <a:ext cx="120777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7" name="Rectangle 5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100"/>
          <p:cNvSpPr>
            <a:spLocks noChangeArrowheads="1"/>
          </p:cNvSpPr>
          <p:nvPr/>
        </p:nvSpPr>
        <p:spPr bwMode="auto">
          <a:xfrm>
            <a:off x="3344583" y="613435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Rectangle 104"/>
          <p:cNvSpPr>
            <a:spLocks noChangeArrowheads="1"/>
          </p:cNvSpPr>
          <p:nvPr/>
        </p:nvSpPr>
        <p:spPr bwMode="auto">
          <a:xfrm>
            <a:off x="6259599" y="60946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5292080" y="47532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984757" y="28452"/>
          <a:ext cx="4124129" cy="1814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8" name="Visio" r:id="rId1" imgW="5263515" imgH="2646680" progId="Visio.Drawing.15">
                  <p:embed/>
                </p:oleObj>
              </mc:Choice>
              <mc:Fallback>
                <p:oleObj name="Visio" r:id="rId1" imgW="5263515" imgH="2646680" progId="Visio.Drawing.15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4659" t="9288" r="5542" b="10490"/>
                      <a:stretch>
                        <a:fillRect/>
                      </a:stretch>
                    </p:blipFill>
                    <p:spPr bwMode="auto">
                      <a:xfrm>
                        <a:off x="4984757" y="28452"/>
                        <a:ext cx="4124129" cy="18142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2015877" y="1412776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1" name="对象 30"/>
          <p:cNvGraphicFramePr>
            <a:graphicFrameLocks noChangeAspect="1"/>
          </p:cNvGraphicFramePr>
          <p:nvPr/>
        </p:nvGraphicFramePr>
        <p:xfrm>
          <a:off x="2574637" y="2071838"/>
          <a:ext cx="973244" cy="292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19" name="Equation" r:id="rId3" imgW="685800" imgH="203200" progId="Equation.DSMT4">
                  <p:embed/>
                </p:oleObj>
              </mc:Choice>
              <mc:Fallback>
                <p:oleObj name="Equation" r:id="rId3" imgW="685800" imgH="203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4637" y="2071838"/>
                        <a:ext cx="973244" cy="2928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" name="Rectangle 4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6" name="对象 45"/>
          <p:cNvGraphicFramePr>
            <a:graphicFrameLocks noChangeAspect="1"/>
          </p:cNvGraphicFramePr>
          <p:nvPr/>
        </p:nvGraphicFramePr>
        <p:xfrm>
          <a:off x="1210716" y="2454268"/>
          <a:ext cx="3343145" cy="712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0" name="Equation" r:id="rId5" imgW="2044700" imgH="431800" progId="Equation.DSMT4">
                  <p:embed/>
                </p:oleObj>
              </mc:Choice>
              <mc:Fallback>
                <p:oleObj name="Equation" r:id="rId5" imgW="2044700" imgH="4318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0716" y="2454268"/>
                        <a:ext cx="3343145" cy="71230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Rectangle 4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8" name="对象 47"/>
          <p:cNvGraphicFramePr>
            <a:graphicFrameLocks noChangeAspect="1"/>
          </p:cNvGraphicFramePr>
          <p:nvPr/>
        </p:nvGraphicFramePr>
        <p:xfrm>
          <a:off x="1356832" y="3100556"/>
          <a:ext cx="1742154" cy="41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1" name="Equation" r:id="rId7" imgW="1116965" imgH="266700" progId="Equation.DSMT4">
                  <p:embed/>
                </p:oleObj>
              </mc:Choice>
              <mc:Fallback>
                <p:oleObj name="Equation" r:id="rId7" imgW="1116965" imgH="2667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6832" y="3100556"/>
                        <a:ext cx="1742154" cy="4145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Rectangle 6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9" name="对象 58"/>
          <p:cNvGraphicFramePr>
            <a:graphicFrameLocks noChangeAspect="1"/>
          </p:cNvGraphicFramePr>
          <p:nvPr/>
        </p:nvGraphicFramePr>
        <p:xfrm>
          <a:off x="1655837" y="3589288"/>
          <a:ext cx="360040" cy="325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2" name="Equation" r:id="rId9" imgW="228600" imgH="203200" progId="Equation.DSMT4">
                  <p:embed/>
                </p:oleObj>
              </mc:Choice>
              <mc:Fallback>
                <p:oleObj name="Equation" r:id="rId9" imgW="228600" imgH="203200" progId="Equation.DSMT4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837" y="3589288"/>
                        <a:ext cx="360040" cy="3250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" name="Rectangle 6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1" name="对象 60"/>
          <p:cNvGraphicFramePr>
            <a:graphicFrameLocks noChangeAspect="1"/>
          </p:cNvGraphicFramePr>
          <p:nvPr/>
        </p:nvGraphicFramePr>
        <p:xfrm>
          <a:off x="3102837" y="3589288"/>
          <a:ext cx="325668" cy="3499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3" name="Equation" r:id="rId11" imgW="215900" imgH="228600" progId="Equation.DSMT4">
                  <p:embed/>
                </p:oleObj>
              </mc:Choice>
              <mc:Fallback>
                <p:oleObj name="Equation" r:id="rId11" imgW="215900" imgH="228600" progId="Equation.DSMT4">
                  <p:embed/>
                  <p:pic>
                    <p:nvPicPr>
                      <p:cNvPr id="0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2837" y="3589288"/>
                        <a:ext cx="325668" cy="34997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/>
          <p:cNvGraphicFramePr>
            <a:graphicFrameLocks noChangeAspect="1"/>
          </p:cNvGraphicFramePr>
          <p:nvPr/>
        </p:nvGraphicFramePr>
        <p:xfrm>
          <a:off x="2842419" y="5134064"/>
          <a:ext cx="2573337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4" name="Equation" r:id="rId13" imgW="37795200" imgH="9448800" progId="Equation.DSMT4">
                  <p:embed/>
                </p:oleObj>
              </mc:Choice>
              <mc:Fallback>
                <p:oleObj name="Equation" r:id="rId13" imgW="37795200" imgH="9448800" progId="Equation.DSMT4">
                  <p:embed/>
                  <p:pic>
                    <p:nvPicPr>
                      <p:cNvPr id="0" name="对象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2419" y="5134064"/>
                        <a:ext cx="2573337" cy="6492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Rectangle 7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0" name="对象 69"/>
          <p:cNvGraphicFramePr>
            <a:graphicFrameLocks noChangeAspect="1"/>
          </p:cNvGraphicFramePr>
          <p:nvPr/>
        </p:nvGraphicFramePr>
        <p:xfrm>
          <a:off x="3385047" y="4118506"/>
          <a:ext cx="325668" cy="325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5" name="Equation" r:id="rId15" imgW="228600" imgH="228600" progId="Equation.DSMT4">
                  <p:embed/>
                </p:oleObj>
              </mc:Choice>
              <mc:Fallback>
                <p:oleObj name="Equation" r:id="rId15" imgW="228600" imgH="2286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5047" y="4118506"/>
                        <a:ext cx="325668" cy="3256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Rectangle 8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2" name="对象 71"/>
          <p:cNvGraphicFramePr>
            <a:graphicFrameLocks noChangeAspect="1"/>
          </p:cNvGraphicFramePr>
          <p:nvPr/>
        </p:nvGraphicFramePr>
        <p:xfrm>
          <a:off x="5014076" y="4095691"/>
          <a:ext cx="305791" cy="3387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6" name="Equation" r:id="rId17" imgW="203200" imgH="228600" progId="Equation.DSMT4">
                  <p:embed/>
                </p:oleObj>
              </mc:Choice>
              <mc:Fallback>
                <p:oleObj name="Equation" r:id="rId17" imgW="203200" imgH="2286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4076" y="4095691"/>
                        <a:ext cx="305791" cy="33872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Rectangle 8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4" name="对象 73"/>
          <p:cNvGraphicFramePr>
            <a:graphicFrameLocks noChangeAspect="1"/>
          </p:cNvGraphicFramePr>
          <p:nvPr/>
        </p:nvGraphicFramePr>
        <p:xfrm>
          <a:off x="5976317" y="4138394"/>
          <a:ext cx="611560" cy="305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7" name="Equation" r:id="rId19" imgW="457200" imgH="228600" progId="Equation.DSMT4">
                  <p:embed/>
                </p:oleObj>
              </mc:Choice>
              <mc:Fallback>
                <p:oleObj name="Equation" r:id="rId19" imgW="457200" imgH="228600" progId="Equation.DSMT4">
                  <p:embed/>
                  <p:pic>
                    <p:nvPicPr>
                      <p:cNvPr id="0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76317" y="4138394"/>
                        <a:ext cx="611560" cy="3057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对象 75"/>
          <p:cNvGraphicFramePr>
            <a:graphicFrameLocks noChangeAspect="1"/>
          </p:cNvGraphicFramePr>
          <p:nvPr/>
        </p:nvGraphicFramePr>
        <p:xfrm>
          <a:off x="6750050" y="4138613"/>
          <a:ext cx="592138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8" name="Equation" r:id="rId21" imgW="10058400" imgH="5486400" progId="Equation.DSMT4">
                  <p:embed/>
                </p:oleObj>
              </mc:Choice>
              <mc:Fallback>
                <p:oleObj name="Equation" r:id="rId21" imgW="10058400" imgH="54864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0050" y="4138613"/>
                        <a:ext cx="592138" cy="3254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" name="Rectangle 8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8" name="对象 77"/>
          <p:cNvGraphicFramePr>
            <a:graphicFrameLocks noChangeAspect="1"/>
          </p:cNvGraphicFramePr>
          <p:nvPr/>
        </p:nvGraphicFramePr>
        <p:xfrm>
          <a:off x="1166813" y="4629150"/>
          <a:ext cx="2962275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9" name="Equation" r:id="rId23" imgW="46329600" imgH="5486400" progId="Equation.DSMT4">
                  <p:embed/>
                </p:oleObj>
              </mc:Choice>
              <mc:Fallback>
                <p:oleObj name="Equation" r:id="rId23" imgW="46329600" imgH="54864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813" y="4629150"/>
                        <a:ext cx="2962275" cy="3492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" name="对象 78"/>
          <p:cNvGraphicFramePr>
            <a:graphicFrameLocks noChangeAspect="1"/>
          </p:cNvGraphicFramePr>
          <p:nvPr/>
        </p:nvGraphicFramePr>
        <p:xfrm>
          <a:off x="3098800" y="6059488"/>
          <a:ext cx="18669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30" name="Equation" r:id="rId25" imgW="27432000" imgH="7620000" progId="Equation.DSMT4">
                  <p:embed/>
                </p:oleObj>
              </mc:Choice>
              <mc:Fallback>
                <p:oleObj name="Equation" r:id="rId25" imgW="27432000" imgH="7620000" progId="Equation.DSMT4">
                  <p:embed/>
                  <p:pic>
                    <p:nvPicPr>
                      <p:cNvPr id="0" name="对象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8800" y="6059488"/>
                        <a:ext cx="1866900" cy="5238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899592" y="1916832"/>
            <a:ext cx="8064896" cy="4357718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信息传播预测系统的设计与实现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了解信息级联的原理，掌握信息传播路径提取、级联特征表示学习方法；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掌握下一次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转发用户预测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级联增量预测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设计级联增量预测的程序，使用公开数据集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Aminer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Sina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Weibo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Twitter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等测试性能，包括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MSE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拓展内容：考虑社交网络结构。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43063" y="64293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899592" y="1916832"/>
            <a:ext cx="8064896" cy="435771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社交网络             ，</a:t>
            </a:r>
            <a:r>
              <a:rPr lang="en-US" altLang="zh-CN" sz="2000" i="1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en-US" sz="2000" kern="0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时刻，第</a:t>
            </a:r>
            <a:r>
              <a:rPr lang="en-US" altLang="zh-CN" sz="200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个级联为                      ， 为</a:t>
            </a:r>
            <a:r>
              <a:rPr lang="en-US" altLang="zh-CN" sz="2000" i="1" kern="0" dirty="0" err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时刻已经参与该级联的用户的集合。预测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随机游走采样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路径起始点                              ，          为节点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的度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随后的邻居节点采样                                               ，一直持续到序列长度达到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eaLnBrk="1" hangingPunct="1">
              <a:buNone/>
            </a:pP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eaLnBrk="1" hangingPunct="1">
              <a:lnSpc>
                <a:spcPct val="130000"/>
              </a:lnSpc>
              <a:buNone/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拟定长度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，或者采样至一个没有出度邻居的顶点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 eaLnBrk="1" hangingPunct="1">
              <a:lnSpc>
                <a:spcPct val="150000"/>
              </a:lnSpc>
              <a:buClr>
                <a:schemeClr val="folHlink"/>
              </a:buClr>
              <a:buSzPct val="60000"/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路径特征表示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2" indent="-400050" eaLnBrk="1" hangingPunct="1">
              <a:lnSpc>
                <a:spcPct val="150000"/>
              </a:lnSpc>
              <a:buClr>
                <a:srgbClr val="FF0000"/>
              </a:buClr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路径中每个节点用独热码表示</a:t>
            </a: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，低维向量表示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2" indent="-400050" eaLnBrk="1" hangingPunct="1">
              <a:lnSpc>
                <a:spcPct val="150000"/>
              </a:lnSpc>
              <a:buClr>
                <a:srgbClr val="FF0000"/>
              </a:buClr>
            </a:pPr>
            <a:r>
              <a:rPr lang="en-US" altLang="zh-CN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GRU</a:t>
            </a: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获取隐状态                            。双向隐状态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2" indent="-400050" eaLnBrk="1" hangingPunct="1">
              <a:lnSpc>
                <a:spcPct val="150000"/>
              </a:lnSpc>
              <a:buClr>
                <a:srgbClr val="FF0000"/>
              </a:buClr>
            </a:pPr>
            <a:r>
              <a:rPr lang="zh-CN" altLang="en-US" sz="1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聚合向量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411760" y="2060848"/>
          <a:ext cx="903977" cy="288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4" name="Equation" r:id="rId1" imgW="647700" imgH="203200" progId="Equation.DSMT4">
                  <p:embed/>
                </p:oleObj>
              </mc:Choice>
              <mc:Fallback>
                <p:oleObj name="Equation" r:id="rId1" imgW="647700" imgH="203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2060848"/>
                        <a:ext cx="903977" cy="2880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5828265" y="1974248"/>
          <a:ext cx="1552047" cy="3746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5" name="Equation" r:id="rId3" imgW="1016000" imgH="241300" progId="Equation.DSMT4">
                  <p:embed/>
                </p:oleObj>
              </mc:Choice>
              <mc:Fallback>
                <p:oleObj name="Equation" r:id="rId3" imgW="1016000" imgH="2413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8265" y="1974248"/>
                        <a:ext cx="1552047" cy="3746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3563888" y="330676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/>
        </p:nvGraphicFramePr>
        <p:xfrm>
          <a:off x="7452320" y="1988840"/>
          <a:ext cx="288032" cy="4032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6" name="Equation" r:id="rId5" imgW="177800" imgH="241300" progId="Equation.DSMT4">
                  <p:embed/>
                </p:oleObj>
              </mc:Choice>
              <mc:Fallback>
                <p:oleObj name="Equation" r:id="rId5" imgW="177800" imgH="2413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2320" y="1988840"/>
                        <a:ext cx="288032" cy="4032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5207923" y="2447662"/>
          <a:ext cx="1610421" cy="374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7" name="Equation" r:id="rId7" imgW="1054100" imgH="241300" progId="Equation.DSMT4">
                  <p:embed/>
                </p:oleObj>
              </mc:Choice>
              <mc:Fallback>
                <p:oleObj name="Equation" r:id="rId7" imgW="1054100" imgH="2413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07923" y="2447662"/>
                        <a:ext cx="1610421" cy="37463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5" name="图片 2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99170" y="5420"/>
            <a:ext cx="6153150" cy="1752600"/>
          </a:xfrm>
          <a:prstGeom prst="rect">
            <a:avLst/>
          </a:prstGeom>
        </p:spPr>
      </p:pic>
      <p:sp>
        <p:nvSpPr>
          <p:cNvPr id="28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2771800" y="3290157"/>
          <a:ext cx="1800200" cy="6660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8" name="Equation" r:id="rId10" imgW="1498600" imgH="558800" progId="Equation.DSMT4">
                  <p:embed/>
                </p:oleObj>
              </mc:Choice>
              <mc:Fallback>
                <p:oleObj name="Equation" r:id="rId10" imgW="1498600" imgH="5588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3290157"/>
                        <a:ext cx="1800200" cy="66603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44"/>
          <p:cNvSpPr>
            <a:spLocks noChangeArrowheads="1"/>
          </p:cNvSpPr>
          <p:nvPr/>
        </p:nvSpPr>
        <p:spPr bwMode="auto">
          <a:xfrm>
            <a:off x="0" y="-1"/>
            <a:ext cx="120777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4680520" y="3489290"/>
          <a:ext cx="683568" cy="301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" name="Equation" r:id="rId12" imgW="520700" imgH="228600" progId="Equation.DSMT4">
                  <p:embed/>
                </p:oleObj>
              </mc:Choice>
              <mc:Fallback>
                <p:oleObj name="Equation" r:id="rId12" imgW="520700" imgH="228600" progId="Equation.DSMT4">
                  <p:embed/>
                  <p:pic>
                    <p:nvPicPr>
                      <p:cNvPr id="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0520" y="3489290"/>
                        <a:ext cx="683568" cy="3019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ectangle 5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3487692" y="3813572"/>
          <a:ext cx="2956515" cy="709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0" name="Equation" r:id="rId14" imgW="55473600" imgH="13411200" progId="Equation.DSMT4">
                  <p:embed/>
                </p:oleObj>
              </mc:Choice>
              <mc:Fallback>
                <p:oleObj name="Equation" r:id="rId14" imgW="55473600" imgH="13411200" progId="Equation.DSMT4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7692" y="3813572"/>
                        <a:ext cx="2956515" cy="7096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6094177" y="5465911"/>
          <a:ext cx="700061" cy="28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1" name="Equation" r:id="rId16" imgW="558800" imgH="228600" progId="Equation.DSMT4">
                  <p:embed/>
                </p:oleObj>
              </mc:Choice>
              <mc:Fallback>
                <p:oleObj name="Equation" r:id="rId16" imgW="558800" imgH="228600" progId="Equation.DSMT4">
                  <p:embed/>
                  <p:pic>
                    <p:nvPicPr>
                      <p:cNvPr id="0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4177" y="5465911"/>
                        <a:ext cx="700061" cy="2880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100"/>
          <p:cNvSpPr>
            <a:spLocks noChangeArrowheads="1"/>
          </p:cNvSpPr>
          <p:nvPr/>
        </p:nvSpPr>
        <p:spPr bwMode="auto">
          <a:xfrm>
            <a:off x="3344583" y="613435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10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3318971" y="5970414"/>
          <a:ext cx="1488374" cy="293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2" name="Equation" r:id="rId18" imgW="1155700" imgH="228600" progId="Equation.DSMT4">
                  <p:embed/>
                </p:oleObj>
              </mc:Choice>
              <mc:Fallback>
                <p:oleObj name="Equation" r:id="rId18" imgW="1155700" imgH="228600" progId="Equation.DSMT4">
                  <p:embed/>
                  <p:pic>
                    <p:nvPicPr>
                      <p:cNvPr id="0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8971" y="5970414"/>
                        <a:ext cx="1488374" cy="2935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4"/>
          <p:cNvSpPr>
            <a:spLocks noChangeArrowheads="1"/>
          </p:cNvSpPr>
          <p:nvPr/>
        </p:nvSpPr>
        <p:spPr bwMode="auto">
          <a:xfrm>
            <a:off x="6259599" y="60946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211694" y="5912748"/>
          <a:ext cx="1213300" cy="338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3" name="Equation" r:id="rId20" imgW="901065" imgH="254000" progId="Equation.DSMT4">
                  <p:embed/>
                </p:oleObj>
              </mc:Choice>
              <mc:Fallback>
                <p:oleObj name="Equation" r:id="rId20" imgW="901065" imgH="254000" progId="Equation.DSMT4">
                  <p:embed/>
                  <p:pic>
                    <p:nvPicPr>
                      <p:cNvPr id="0" name="Object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1694" y="5912748"/>
                        <a:ext cx="1213300" cy="3386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2771800" y="6277639"/>
          <a:ext cx="1082188" cy="6051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4" name="Equation" r:id="rId22" imgW="774065" imgH="431800" progId="Equation.DSMT4">
                  <p:embed/>
                </p:oleObj>
              </mc:Choice>
              <mc:Fallback>
                <p:oleObj name="Equation" r:id="rId22" imgW="774065" imgH="431800" progId="Equation.DSMT4">
                  <p:embed/>
                  <p:pic>
                    <p:nvPicPr>
                      <p:cNvPr id="0" name="Object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800" y="6277639"/>
                        <a:ext cx="1082188" cy="6051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图片 25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141085" y="6284414"/>
            <a:ext cx="2864917" cy="58005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899592" y="1916832"/>
            <a:ext cx="8064896" cy="435771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时间嵌入。事件间隔                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buNone/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时间序列特征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级联序列聚合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第k条路径权重</a:t>
            </a: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eaLnBrk="1" hangingPunct="1">
              <a:buNone/>
            </a:pP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eaLnBrk="1" hangingPunct="1">
              <a:buNone/>
            </a:pP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级联的整体结构嵌入</a:t>
            </a: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级联增量预测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en-US" sz="20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数据处理：根据帖子首次发表时间来划分训练集、测试集</a:t>
            </a:r>
            <a:endParaRPr lang="en-US" altLang="zh-CN" sz="20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1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0" name="Rectangle 20"/>
          <p:cNvSpPr>
            <a:spLocks noChangeArrowheads="1"/>
          </p:cNvSpPr>
          <p:nvPr/>
        </p:nvSpPr>
        <p:spPr bwMode="auto">
          <a:xfrm>
            <a:off x="3563888" y="330676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8" name="Rectangle 3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5" name="Rectangle 44"/>
          <p:cNvSpPr>
            <a:spLocks noChangeArrowheads="1"/>
          </p:cNvSpPr>
          <p:nvPr/>
        </p:nvSpPr>
        <p:spPr bwMode="auto">
          <a:xfrm>
            <a:off x="0" y="-1"/>
            <a:ext cx="120777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37" name="Rectangle 5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2" name="Rectangle 9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100"/>
          <p:cNvSpPr>
            <a:spLocks noChangeArrowheads="1"/>
          </p:cNvSpPr>
          <p:nvPr/>
        </p:nvSpPr>
        <p:spPr bwMode="auto">
          <a:xfrm>
            <a:off x="3344583" y="613435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10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1" name="Rectangle 104"/>
          <p:cNvSpPr>
            <a:spLocks noChangeArrowheads="1"/>
          </p:cNvSpPr>
          <p:nvPr/>
        </p:nvSpPr>
        <p:spPr bwMode="auto">
          <a:xfrm>
            <a:off x="6259599" y="609466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285" y="-1"/>
            <a:ext cx="3395650" cy="2846354"/>
          </a:xfrm>
          <a:prstGeom prst="rect">
            <a:avLst/>
          </a:prstGeom>
        </p:spPr>
      </p:pic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3635896" y="2038554"/>
          <a:ext cx="1021054" cy="3326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1" name="Equation" r:id="rId2" imgW="698500" imgH="228600" progId="Equation.DSMT4">
                  <p:embed/>
                </p:oleObj>
              </mc:Choice>
              <mc:Fallback>
                <p:oleObj name="Equation" r:id="rId2" imgW="698500" imgH="2286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896" y="2038554"/>
                        <a:ext cx="1021054" cy="3326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3016776" y="2575893"/>
          <a:ext cx="1640174" cy="3326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2" name="Equation" r:id="rId4" imgW="1130300" imgH="228600" progId="Equation.DSMT4">
                  <p:embed/>
                </p:oleObj>
              </mc:Choice>
              <mc:Fallback>
                <p:oleObj name="Equation" r:id="rId4" imgW="11303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776" y="2575893"/>
                        <a:ext cx="1640174" cy="33265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对象 31"/>
          <p:cNvGraphicFramePr>
            <a:graphicFrameLocks noChangeAspect="1"/>
          </p:cNvGraphicFramePr>
          <p:nvPr/>
        </p:nvGraphicFramePr>
        <p:xfrm>
          <a:off x="3344583" y="3348711"/>
          <a:ext cx="1640174" cy="7745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3" name="Equation" r:id="rId6" imgW="1371600" imgH="647700" progId="Equation.DSMT4">
                  <p:embed/>
                </p:oleObj>
              </mc:Choice>
              <mc:Fallback>
                <p:oleObj name="Equation" r:id="rId6" imgW="1371600" imgH="6477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4583" y="3348711"/>
                        <a:ext cx="1640174" cy="7745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/>
        </p:nvGraphicFramePr>
        <p:xfrm>
          <a:off x="3344583" y="4162930"/>
          <a:ext cx="2739578" cy="34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4" name="Equation" r:id="rId8" imgW="1968500" imgH="241300" progId="Equation.DSMT4">
                  <p:embed/>
                </p:oleObj>
              </mc:Choice>
              <mc:Fallback>
                <p:oleObj name="Equation" r:id="rId8" imgW="1968500" imgH="2413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4583" y="4162930"/>
                        <a:ext cx="2739578" cy="3407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3965883" y="4503718"/>
          <a:ext cx="995669" cy="5166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5" name="Equation" r:id="rId10" imgW="837565" imgH="431800" progId="Equation.DSMT4">
                  <p:embed/>
                </p:oleObj>
              </mc:Choice>
              <mc:Fallback>
                <p:oleObj name="Equation" r:id="rId10" imgW="837565" imgH="4318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5883" y="4503718"/>
                        <a:ext cx="995669" cy="51669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/>
          <p:cNvGraphicFramePr>
            <a:graphicFrameLocks noChangeAspect="1"/>
          </p:cNvGraphicFramePr>
          <p:nvPr/>
        </p:nvGraphicFramePr>
        <p:xfrm>
          <a:off x="3094700" y="5083338"/>
          <a:ext cx="1619672" cy="307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6" name="Equation" r:id="rId12" imgW="1206500" imgH="228600" progId="Equation.DSMT4">
                  <p:embed/>
                </p:oleObj>
              </mc:Choice>
              <mc:Fallback>
                <p:oleObj name="Equation" r:id="rId12" imgW="12065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4700" y="5083338"/>
                        <a:ext cx="1619672" cy="3076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3016776" y="5520706"/>
          <a:ext cx="973244" cy="2292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07" name="Equation" r:id="rId14" imgW="876300" imgH="203200" progId="Equation.DSMT4">
                  <p:embed/>
                </p:oleObj>
              </mc:Choice>
              <mc:Fallback>
                <p:oleObj name="Equation" r:id="rId14" imgW="876300" imgH="2032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776" y="5520706"/>
                        <a:ext cx="973244" cy="22920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39552" y="1700808"/>
            <a:ext cx="8424936" cy="4357718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网络安全知识图谱系统的设计与实现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了解知识图谱的概念，掌握三元组的提取、存储及展示方法；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实体识别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关系抽取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、图数据库技术；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设计网络安全领域知识图谱，抓取网络安全论坛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/blog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或者文献数据存入关系数据库，从中提取三元组存入图数据库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neo4j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设计网页页面，展示图数据，支持实体查询及图谱节点移动、缩放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43063" y="64293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 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16632"/>
            <a:ext cx="7848872" cy="68133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571472" y="1500174"/>
            <a:ext cx="8215370" cy="5143536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阶段任务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都可单独完成或小组协作完成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每位同学必须完成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两项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单独完成或小组协作</a:t>
            </a:r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每项任务需要提交的最后结果包括：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报告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 eaLnBrk="1" hangingPunct="1"/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任务分析；相关理论及技术基础；解决思路；概要设计；详细设计；实现；测试；任务结果说明；结果分析；运行截图；程序使用说明；等等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程序源码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要有充分的注释，否则视为抄袭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；编译后的程序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可运行且结果正确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若小组协作，需详细说明小组中各位同学的分工及完成情况</a:t>
            </a:r>
            <a:endParaRPr lang="zh-CN" altLang="en-US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协作小组需确定一名组长，负责分工、进度管理</a:t>
            </a:r>
            <a:endParaRPr lang="en-US" altLang="zh-CN" sz="2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每小组最多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43063" y="64293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827584" y="2204864"/>
            <a:ext cx="7929618" cy="4357718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周周一、周三：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第一次任务汇报，包括理论研究、代码展示和结果说明。每组展示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周周一、周三：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第二次任务汇报，包括理论研究、代码展示和结果说明。每组展示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分钟。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周周日：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提交最终报告、程序及实验结果说明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打成压缩包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 </a:t>
            </a:r>
            <a:r>
              <a:rPr lang="en-US" altLang="zh-CN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xiongf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hlinkClick r:id="rId1"/>
              </a:rPr>
              <a:t>@bjtu.edu.cn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，小组协作的以小组为单位，组长提交，文件名为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题目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43063" y="64293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时间安排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43063" y="64293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成绩组成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827584" y="2204864"/>
            <a:ext cx="7929618" cy="435771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两次课上汇报：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分（每次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25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分）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最终报告及程序等：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共计：</a:t>
            </a:r>
            <a:r>
              <a:rPr lang="en-US" altLang="zh-CN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</a:t>
            </a:r>
            <a:endParaRPr lang="en-US" altLang="zh-CN" kern="0" dirty="0"/>
          </a:p>
          <a:p>
            <a:pPr marL="0" indent="0" eaLnBrk="1" hangingPunct="1">
              <a:buNone/>
            </a:pPr>
            <a:endParaRPr lang="en-US" altLang="zh-CN" sz="2400" kern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43063" y="64293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所需提交材料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827584" y="2204864"/>
            <a:ext cx="7929618" cy="435771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两次汇报</a:t>
            </a:r>
            <a:r>
              <a:rPr lang="en-US" altLang="zh-CN" b="1" ker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endParaRPr lang="en-US" altLang="zh-CN" kern="0" dirty="0"/>
          </a:p>
          <a:p>
            <a:pPr eaLnBrk="1" hangingPunct="1"/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最终报告及程序等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buNone/>
            </a:pPr>
            <a:r>
              <a:rPr lang="zh-CN" altLang="en-US" sz="36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*均邮件发送</a:t>
            </a:r>
            <a:endParaRPr lang="en-US" altLang="zh-CN" sz="36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643063" y="642938"/>
            <a:ext cx="5797550" cy="825500"/>
          </a:xfrm>
        </p:spPr>
        <p:txBody>
          <a:bodyPr anchor="t"/>
          <a:lstStyle/>
          <a:p>
            <a:pPr algn="ctr" eaLnBrk="1" hangingPunct="1"/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一些注意事项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755576" y="2060848"/>
            <a:ext cx="7929618" cy="435771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编程语言任选</a:t>
            </a:r>
            <a:endParaRPr lang="en-US" altLang="zh-CN" kern="0" dirty="0"/>
          </a:p>
          <a:p>
            <a:pPr eaLnBrk="1" hangingPunct="1"/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可参考成熟代码，但要体现已掌握代码内容以及加入自己的原创性</a:t>
            </a:r>
            <a:endParaRPr lang="en-US" altLang="zh-CN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汇报的语言组织、逻辑、详略、展示的美观度等都是加分项</a:t>
            </a:r>
            <a:endParaRPr lang="en-US" altLang="zh-CN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en-US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5-8</a:t>
            </a:r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周任务难度有区别，小组自行考虑</a:t>
            </a:r>
            <a:endParaRPr lang="en-US" altLang="zh-CN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/>
            <a:r>
              <a:rPr lang="zh-CN" altLang="en-US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重复选题的小组之间会根据完成质量打分，分数会有一定区分度</a:t>
            </a:r>
            <a:endParaRPr lang="en-US" altLang="zh-CN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question-e1347312697984.png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0" y="2"/>
            <a:ext cx="9144000" cy="68579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7158" y="5072074"/>
            <a:ext cx="47863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mpus Sans ITC" panose="04020404030D07020202" pitchFamily="82" charset="0"/>
              </a:rPr>
              <a:t>Any Question?</a:t>
            </a:r>
            <a:endParaRPr lang="zh-CN" altLang="en-US" sz="5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empus Sans ITC" panose="04020404030D07020202" pitchFamily="8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0</TotalTime>
  <Words>3523</Words>
  <Application>WPS 演示</Application>
  <PresentationFormat>全屏显示(4:3)</PresentationFormat>
  <Paragraphs>238</Paragraphs>
  <Slides>32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31</vt:i4>
      </vt:variant>
      <vt:variant>
        <vt:lpstr>幻灯片标题</vt:lpstr>
      </vt:variant>
      <vt:variant>
        <vt:i4>32</vt:i4>
      </vt:variant>
    </vt:vector>
  </HeadingPairs>
  <TitlesOfParts>
    <vt:vector size="74" baseType="lpstr">
      <vt:lpstr>Arial</vt:lpstr>
      <vt:lpstr>宋体</vt:lpstr>
      <vt:lpstr>Wingdings</vt:lpstr>
      <vt:lpstr>Tahoma</vt:lpstr>
      <vt:lpstr>Gulim</vt:lpstr>
      <vt:lpstr>微软雅黑</vt:lpstr>
      <vt:lpstr>Verdana</vt:lpstr>
      <vt:lpstr>Times New Roman</vt:lpstr>
      <vt:lpstr>Arial Unicode MS</vt:lpstr>
      <vt:lpstr>Tempus Sans ITC</vt:lpstr>
      <vt:lpstr>Blends</vt:lpstr>
      <vt:lpstr>Visio.Drawing.15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关于课程</vt:lpstr>
      <vt:lpstr>任务</vt:lpstr>
      <vt:lpstr>任务</vt:lpstr>
      <vt:lpstr>任务</vt:lpstr>
      <vt:lpstr>任务 1</vt:lpstr>
      <vt:lpstr>任务 2</vt:lpstr>
      <vt:lpstr>任务 3</vt:lpstr>
      <vt:lpstr>网络爬虫</vt:lpstr>
      <vt:lpstr>网络爬虫</vt:lpstr>
      <vt:lpstr>工作流程  </vt:lpstr>
      <vt:lpstr>网络爬虫</vt:lpstr>
      <vt:lpstr>任务 4</vt:lpstr>
      <vt:lpstr>任务</vt:lpstr>
      <vt:lpstr>任务 1</vt:lpstr>
      <vt:lpstr>任务 2</vt:lpstr>
      <vt:lpstr>任务 3</vt:lpstr>
      <vt:lpstr>任务 4</vt:lpstr>
      <vt:lpstr>PowerPoint 演示文稿</vt:lpstr>
      <vt:lpstr>任务 5</vt:lpstr>
      <vt:lpstr>PowerPoint 演示文稿</vt:lpstr>
      <vt:lpstr>任务 6</vt:lpstr>
      <vt:lpstr>PowerPoint 演示文稿</vt:lpstr>
      <vt:lpstr>PowerPoint 演示文稿</vt:lpstr>
      <vt:lpstr>任务 7</vt:lpstr>
      <vt:lpstr>PowerPoint 演示文稿</vt:lpstr>
      <vt:lpstr>要求</vt:lpstr>
      <vt:lpstr>时间安排</vt:lpstr>
      <vt:lpstr>成绩组成</vt:lpstr>
      <vt:lpstr>所需提交材料</vt:lpstr>
      <vt:lpstr>一些注意事项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信息安全课程设计</dc:title>
  <dc:creator>atpcs</dc:creator>
  <cp:lastModifiedBy>熊菲</cp:lastModifiedBy>
  <cp:revision>1185</cp:revision>
  <cp:lastPrinted>2019-10-30T06:27:00Z</cp:lastPrinted>
  <dcterms:created xsi:type="dcterms:W3CDTF">2001-07-18T23:57:00Z</dcterms:created>
  <dcterms:modified xsi:type="dcterms:W3CDTF">2026-02-27T09:20:52Z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2A18FFFC86C547C380D6F528C5E81BFD_12</vt:lpwstr>
  </property>
  <property fmtid="{D5CDD505-2E9C-101B-9397-08002B2CF9AE}" pid="3" name="KSOProductBuildVer">
    <vt:lpwstr>2052-12.1.0.24657</vt:lpwstr>
  </property>
</Properties>
</file>